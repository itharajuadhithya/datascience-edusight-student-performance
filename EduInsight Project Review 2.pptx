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10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3904388"/>
              </p:ext>
            </p:extLst>
          </p:nvPr>
        </p:nvGraphicFramePr>
        <p:xfrm>
          <a:off x="8193271" y="4898509"/>
          <a:ext cx="3702050" cy="15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150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Avinash - 2420030568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Adhithya - 2420030571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Charan - 2420030364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7167561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 N Sunanda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EduInsight</a:t>
            </a:r>
            <a:endParaRPr lang="en-IN" sz="3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/>
            </a:pPr>
            <a:r>
              <a:rPr lang="en-IN" sz="3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Performance &amp; Dropout Full-Cycle Analytics </a:t>
            </a:r>
            <a:r>
              <a:rPr lang="en-I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endParaRPr lang="en-US" sz="3200" dirty="0">
              <a:solidFill>
                <a:schemeClr val="bg1"/>
              </a:solidFill>
              <a:latin typeface="Calibri" panose="020F0502020204030204"/>
              <a:cs typeface="Poppins" pitchFamily="2" charset="77"/>
            </a:endParaRPr>
          </a:p>
          <a:p>
            <a:pPr lvl="0" algn="ctr"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Data Science Project Review-2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0" name="Content Box 1"/>
          <p:cNvSpPr txBox="1"/>
          <p:nvPr/>
        </p:nvSpPr>
        <p:spPr>
          <a:xfrm>
            <a:off x="895350" y="1550000"/>
            <a:ext cx="10400000" cy="46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000" dirty="0"/>
              <a:t>Student dropout and declining academic performance remain major challenges for higher-education institutions, with long-term impact on students and the institution alike.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/>
              <a:t>Academic records, attendance, and engagement data are scattered across multiple systems, making early identification of at-risk students difficult.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/>
              <a:t>Faculty and mentors often notice warning signs only after a student has already fallen significantly behind, leaving little time to intervene.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/>
              <a:t>There is a need for a unified, data-driven system that continuously tracks student performance and predicts dropout risk well in advance, enabling timely support.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0" name="Content Box 1"/>
          <p:cNvSpPr txBox="1"/>
          <p:nvPr/>
        </p:nvSpPr>
        <p:spPr>
          <a:xfrm>
            <a:off x="895350" y="1550000"/>
            <a:ext cx="10400000" cy="46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000" dirty="0"/>
              <a:t>Build a full-cycle analytics pipeline that collects, cleans, and processes student academic, attendance, and behavioral data.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/>
              <a:t>Develop machine learning models that predict student performance trends and dropout risk with high accuracy.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/>
              <a:t>Provide an interactive dashboard for faculty and mentors to monitor at-risk students in real time.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/>
              <a:t>Enable early intervention through automated alerts and personalized recommendations for flagged students.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/>
              <a:t>Continuously evaluate and improve model performance using real institutional data across semesters.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17273577"/>
              </p:ext>
            </p:extLst>
          </p:nvPr>
        </p:nvGraphicFramePr>
        <p:xfrm>
          <a:off x="274646" y="689466"/>
          <a:ext cx="11642705" cy="61912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1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213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i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No.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i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Study Approach and Contribution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i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Relevance to EduInsight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i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Limitation when applying it to this project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0" dirty="0">
                          <a:solidFill>
                            <a:srgbClr val="C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anchor="ctr"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dirty="0">
                          <a:solidFill>
                            <a:srgbClr val="C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Cortez &amp; Silva, 2008 — </a:t>
                      </a:r>
                      <a:r>
                        <a:rPr lang="en-US" sz="1400" b="1" i="1" dirty="0">
                          <a:solidFill>
                            <a:srgbClr val="C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Using Data Mining to Predict Secondary School Student Performance</a:t>
                      </a:r>
                    </a:p>
                    <a:p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Examines prediction of student performance using academic, demographic, social, and school-related attributes.</a:t>
                      </a:r>
                    </a:p>
                  </a:txBody>
                  <a:tcPr anchor="ctr"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Supports the use of </a:t>
                      </a:r>
                      <a:r>
                        <a:rPr lang="en-US" sz="1400" b="1" i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structured student attributes and prior performance</a:t>
                      </a:r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in educational prediction.</a:t>
                      </a:r>
                    </a:p>
                  </a:txBody>
                  <a:tcPr anchor="ctr"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Secondary-school data from a particular setting </a:t>
                      </a:r>
                      <a:r>
                        <a:rPr lang="en-US" sz="1400" b="1" i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cannot directly validate university backlog or graduation prediction</a:t>
                      </a:r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.</a:t>
                      </a:r>
                    </a:p>
                  </a:txBody>
                  <a:tcPr anchor="ctr">
                    <a:solidFill>
                      <a:srgbClr val="D9E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0" dirty="0">
                          <a:solidFill>
                            <a:srgbClr val="C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dirty="0">
                          <a:solidFill>
                            <a:srgbClr val="C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Romero &amp; Ventura, 2010 — </a:t>
                      </a:r>
                      <a:r>
                        <a:rPr lang="en-US" sz="1400" b="1" i="1" dirty="0">
                          <a:solidFill>
                            <a:srgbClr val="C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Educational Data Mining: A Review of the State of the Art</a:t>
                      </a:r>
                    </a:p>
                    <a:p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Reviews educational data mining tasks, methods, and applications.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Provides the </a:t>
                      </a:r>
                      <a:r>
                        <a:rPr lang="en-US" sz="1400" b="1" i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conceptual foundation</a:t>
                      </a:r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for classification, academic analysis, and educational decision support.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 broad review </a:t>
                      </a:r>
                      <a:r>
                        <a:rPr lang="en-US" sz="1400" b="1" i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does not prescribe a specific ERP architecture</a:t>
                      </a:r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or validate EduInsight's rules.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0" dirty="0">
                          <a:solidFill>
                            <a:srgbClr val="C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anchor="ctr"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dirty="0">
                          <a:solidFill>
                            <a:srgbClr val="C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Shahiri, Husain, &amp; Rashid, 2015 — </a:t>
                      </a:r>
                      <a:r>
                        <a:rPr lang="en-US" sz="1400" b="1" i="1" dirty="0">
                          <a:solidFill>
                            <a:srgbClr val="C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 Review on Predicting Student's Performance Using Data Mining Techniques</a:t>
                      </a:r>
                    </a:p>
                    <a:p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Reviews student performance prediction studies and the techniques and attributes used.</a:t>
                      </a:r>
                    </a:p>
                  </a:txBody>
                  <a:tcPr anchor="ctr"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Motivates </a:t>
                      </a:r>
                      <a:r>
                        <a:rPr lang="en-US" sz="1400" b="1" i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comparing multiple classifiers</a:t>
                      </a:r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rather than assuming one algorithm is universally best.</a:t>
                      </a:r>
                    </a:p>
                  </a:txBody>
                  <a:tcPr anchor="ctr"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Findings across heterogeneous datasets </a:t>
                      </a:r>
                      <a:r>
                        <a:rPr lang="en-US" sz="1400" b="1" i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do not guarantee the same ranking of models</a:t>
                      </a:r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on a new institution's data.</a:t>
                      </a:r>
                    </a:p>
                  </a:txBody>
                  <a:tcPr anchor="ctr">
                    <a:solidFill>
                      <a:srgbClr val="D9E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0" dirty="0">
                          <a:solidFill>
                            <a:srgbClr val="C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dirty="0">
                          <a:solidFill>
                            <a:srgbClr val="C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Asif et al., 2017 — </a:t>
                      </a:r>
                      <a:r>
                        <a:rPr lang="en-US" sz="1400" b="1" i="1" dirty="0">
                          <a:solidFill>
                            <a:srgbClr val="C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Analyzing Undergraduate Students' Performance Using Educational Data Mining</a:t>
                      </a:r>
                    </a:p>
                    <a:p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Studies undergraduate performance using educational data mining and earlier academic information.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Particularly relevant to </a:t>
                      </a:r>
                      <a:r>
                        <a:rPr lang="en-US" sz="1400" b="1" i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semester-wise monitoring</a:t>
                      </a:r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and identifying students who may need support.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Institution-specific patterns require </a:t>
                      </a:r>
                      <a:r>
                        <a:rPr lang="en-US" sz="1400" b="1" i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external validation</a:t>
                      </a:r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before adoption elsewhere.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0" dirty="0">
                          <a:solidFill>
                            <a:srgbClr val="C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</a:p>
                  </a:txBody>
                  <a:tcPr anchor="ctr"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i="0" dirty="0">
                          <a:solidFill>
                            <a:srgbClr val="C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Lakkaraju et al., 2015 — </a:t>
                      </a:r>
                      <a:r>
                        <a:rPr lang="en-US" sz="1400" b="1" i="1" dirty="0">
                          <a:solidFill>
                            <a:srgbClr val="C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A Machine Learning Framework to Identify Students at Risk of Adverse Academic Outcomes</a:t>
                      </a:r>
                    </a:p>
                    <a:p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Develops a framework for identifying students at risk of adverse academic outcomes.</a:t>
                      </a:r>
                    </a:p>
                  </a:txBody>
                  <a:tcPr anchor="ctr"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Supports treating risk identification as an </a:t>
                      </a:r>
                      <a:r>
                        <a:rPr lang="en-US" sz="1400" b="1" i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operational early-warning problem</a:t>
                      </a:r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connected to intervention.</a:t>
                      </a:r>
                    </a:p>
                  </a:txBody>
                  <a:tcPr anchor="ctr"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Prediction alone </a:t>
                      </a:r>
                      <a:r>
                        <a:rPr lang="en-US" sz="1400" b="1" i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does not prove that an intervention improves outcomes</a:t>
                      </a:r>
                      <a:r>
                        <a:rPr lang="en-US" sz="1400" b="0" i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; deployment needs appropriate outcome definitions and evaluation.</a:t>
                      </a:r>
                    </a:p>
                  </a:txBody>
                  <a:tcPr anchor="ctr">
                    <a:solidFill>
                      <a:srgbClr val="D9E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1493060" y="600078"/>
            <a:ext cx="92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0" name="Content Box 1"/>
          <p:cNvSpPr txBox="1"/>
          <p:nvPr/>
        </p:nvSpPr>
        <p:spPr>
          <a:xfrm>
            <a:off x="895350" y="1600000"/>
            <a:ext cx="10400000" cy="46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000" dirty="0"/>
              <a:t>Existing approaches (from the literature) mostly rely on academic marks alone and ignore attendance, behavioral, and engagement signals.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/>
              <a:t>Most solutions perform a one-time prediction rather than continuous, full-cycle monitoring across semesters.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/>
              <a:t>Predictions are rarely made actionable - few systems translate a risk score into concrete intervention steps for mentors.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/>
              <a:t>Limited focus on explainability makes it hard for faculty to trust or act on model outputs.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/>
              <a:t>Very few systems offer a real-time, easy-to-use dashboard tailored for both faculty and student self-monitoring.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0" name="Content Box 1"/>
          <p:cNvSpPr txBox="1"/>
          <p:nvPr/>
        </p:nvSpPr>
        <p:spPr>
          <a:xfrm>
            <a:off x="895999" y="1781033"/>
            <a:ext cx="10400000" cy="440000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r>
              <a:rPr lang="en-US" sz="2000" b="1" dirty="0"/>
              <a:t>New features being added to EduInsight: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/>
              <a:t>Early-warning dashboard that flags at-risk students in real time as attendance and grades are updated.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/>
              <a:t>Explainable-AI module that shows why a student is flagged (e.g., attendance drop, falling grades) instead of a black-box score.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/>
              <a:t>Automated mentor-alert system that sends notifications with suggested intervention steps to faculty and mentors.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/>
              <a:t>Personalized recommendations for students - study resources and counseling nudges - based on individual risk factors.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/>
              <a:t>Full-cycle tracking across semesters, rather than a single snapshot, to capture performance trends over time.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/>
              <a:t>Role-based portal with tailored views for students, mentors, and administrators.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/>
              <a:t>Integration-ready design so the system can plug into existing college ERP/LMS platforms for automatic data sync.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/>
              <a:t>Backlog tracking module that shows whether a student currently has any subject backlogs, and if so, the exact number of subjects.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/>
              <a:t>Classifies each backlog as Internal (failed in internal/continuous assessment marks) or External (failed in the semester-end written exam).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895350" y="440000"/>
            <a:ext cx="10400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0303AA-CEE8-2513-1736-59CB3A5EF8E4}"/>
              </a:ext>
            </a:extLst>
          </p:cNvPr>
          <p:cNvSpPr txBox="1"/>
          <p:nvPr/>
        </p:nvSpPr>
        <p:spPr>
          <a:xfrm>
            <a:off x="895350" y="1400000"/>
            <a:ext cx="10400000" cy="600000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r>
              <a:rPr lang="en-US" sz="1800" dirty="0"/>
              <a:t>The project is technically feasible using open-source tools (Python, scikit-learn/TensorFlow, Power BI/Streamlit) and existing institutional data; the required skills and computing resources are available within the team and department.</a:t>
            </a:r>
          </a:p>
        </p:txBody>
      </p:sp>
      <p:graphicFrame>
        <p:nvGraphicFramePr>
          <p:cNvPr id="101" name="Timeline Table"/>
          <p:cNvGraphicFramePr>
            <a:graphicFrameLocks noGrp="1"/>
          </p:cNvGraphicFramePr>
          <p:nvPr/>
        </p:nvGraphicFramePr>
        <p:xfrm>
          <a:off x="895350" y="2150000"/>
          <a:ext cx="10400000" cy="430000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000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Phase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Activity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1667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Weeks 1-2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Requirement gathering and data collection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1667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Weeks 3-4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Data cleaning and preprocessing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1667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Weeks 5-7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Model development and training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1667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Weeks 8-9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Dashboard and alert-system development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1667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Weeks 10-11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Testing and validation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1666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Week 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Deployment and final review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923</Words>
  <Application>Microsoft Office PowerPoint</Application>
  <PresentationFormat>Widescreen</PresentationFormat>
  <Paragraphs>114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I Adhithya</cp:lastModifiedBy>
  <cp:revision>34</cp:revision>
  <dcterms:created xsi:type="dcterms:W3CDTF">2026-08-08T06:33:56Z</dcterms:created>
  <dcterms:modified xsi:type="dcterms:W3CDTF">2026-09-10T06:05:32Z</dcterms:modified>
</cp:coreProperties>
</file>